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88" r:id="rId2"/>
    <p:sldId id="257" r:id="rId3"/>
    <p:sldId id="281" r:id="rId4"/>
    <p:sldId id="282" r:id="rId5"/>
    <p:sldId id="256" r:id="rId6"/>
    <p:sldId id="283" r:id="rId7"/>
    <p:sldId id="284" r:id="rId8"/>
    <p:sldId id="286" r:id="rId9"/>
    <p:sldId id="287" r:id="rId10"/>
    <p:sldId id="258" r:id="rId11"/>
  </p:sldIdLst>
  <p:sldSz cx="12192000" cy="6858000"/>
  <p:notesSz cx="6858000" cy="9144000"/>
  <p:embeddedFontLst>
    <p:embeddedFont>
      <p:font typeface="Noto Sans" panose="020B0502040504020204" pitchFamily="34" charset="0"/>
      <p:regular r:id="rId13"/>
      <p:bold r:id="rId14"/>
      <p:italic r:id="rId15"/>
      <p:boldItalic r:id="rId16"/>
    </p:embeddedFont>
    <p:embeddedFont>
      <p:font typeface="Noto Sans Bold" panose="020B0802040504020204" pitchFamily="34" charset="0"/>
      <p:regular r:id="rId17"/>
      <p:bold r:id="rId18"/>
      <p:italic r:id="rId19"/>
      <p:boldItalic r:id="rId20"/>
    </p:embeddedFont>
    <p:embeddedFont>
      <p:font typeface="Noto Sans Italics" panose="020B0502040504090204" pitchFamily="34" charset="0"/>
      <p:regular r:id="rId21"/>
      <p:bold r:id="rId22"/>
      <p:italic r:id="rId23"/>
      <p:boldItalic r:id="rId24"/>
    </p:embeddedFont>
    <p:embeddedFont>
      <p:font typeface="Ubuntu Light" panose="020F030202020403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E1qQPcQecl9ARx9bnICje2tF1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1"/>
  </p:normalViewPr>
  <p:slideViewPr>
    <p:cSldViewPr snapToGrid="0">
      <p:cViewPr>
        <p:scale>
          <a:sx n="64" d="100"/>
          <a:sy n="64" d="100"/>
        </p:scale>
        <p:origin x="2584" y="1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03870E-BF2C-45BB-93D5-461441EE8CB0}" type="slidenum">
              <a:rPr lang="el-GR" smtClean="0"/>
              <a:t>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36718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1" name="Google Shape;52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2" name="Google Shape;522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l-G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4F949BDC-F616-22F3-031E-AA63DEF7C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B69D0-0D9C-4794-BE25-96BD94D5A40C}" type="datetime1">
              <a:rPr lang="el-GR" smtClean="0"/>
              <a:t>9/2/26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E3CC78AC-F026-1AF2-73B1-DE8A4CDEF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MAVRIDI NEURO 105</a:t>
            </a:r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797B2D6C-61BB-CB0B-95CC-233E7B412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D2B-E1B1-4748-85CE-BC9E4F21B7D9}" type="slidenum">
              <a:rPr lang="el-GR" smtClean="0"/>
              <a:t>1</a:t>
            </a:fld>
            <a:endParaRPr lang="el-GR"/>
          </a:p>
        </p:txBody>
      </p:sp>
      <p:pic>
        <p:nvPicPr>
          <p:cNvPr id="6" name="Εικόνα 5" descr="Εικόνα που περιέχει κείμενο, γραμματοσειρά, γραμμή, στιγμιότυπο οθόν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CC76B57C-7EA5-1318-2C8F-0048864452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291" r="69766" b="56637"/>
          <a:stretch>
            <a:fillRect/>
          </a:stretch>
        </p:blipFill>
        <p:spPr>
          <a:xfrm>
            <a:off x="0" y="525780"/>
            <a:ext cx="5691903" cy="12001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4C64D9-5CBF-E24A-D655-892116C73004}"/>
              </a:ext>
            </a:extLst>
          </p:cNvPr>
          <p:cNvSpPr txBox="1"/>
          <p:nvPr/>
        </p:nvSpPr>
        <p:spPr>
          <a:xfrm>
            <a:off x="6096000" y="-34300"/>
            <a:ext cx="5987143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/>
              <a:t>We create a new </a:t>
            </a:r>
            <a:r>
              <a:rPr lang="en-US" sz="1600" dirty="0" err="1"/>
              <a:t>dataframe</a:t>
            </a:r>
            <a:r>
              <a:rPr lang="en-US" sz="1600" dirty="0"/>
              <a:t>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ab </a:t>
            </a:r>
            <a:r>
              <a:rPr lang="en-US" sz="1600" dirty="0"/>
              <a:t>by filtering the original mice dataset in order to keep only the observations corresponding to strains A and B. This is done using the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isin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() </a:t>
            </a:r>
            <a:r>
              <a:rPr lang="en-US" sz="1600" dirty="0"/>
              <a:t>function on the strain column.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The analytical plan is to compare the mean maze test scores between the two strains. To achieve this, we group the data by strain using the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groupby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('strain') </a:t>
            </a:r>
            <a:r>
              <a:rPr lang="en-US" sz="1600" dirty="0"/>
              <a:t>function and compute the mean maze test score for each group using the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.mean() </a:t>
            </a:r>
            <a:r>
              <a:rPr lang="en-US" sz="1600" dirty="0"/>
              <a:t>command</a:t>
            </a:r>
            <a:r>
              <a:rPr lang="el-GR" sz="1600" dirty="0"/>
              <a:t>. </a:t>
            </a:r>
            <a:r>
              <a:rPr lang="en-US" sz="1600" u="sng" dirty="0"/>
              <a:t>This step provides the average maze performance for strain A and strain B, allowing a direct numerical comparison between the two groups.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To visually assess the differences between the two strains, we generate a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boxplot </a:t>
            </a:r>
            <a:r>
              <a:rPr lang="en-US" sz="1600" dirty="0"/>
              <a:t>using the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sns.boxplot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() </a:t>
            </a:r>
            <a:r>
              <a:rPr lang="en-US" sz="1600" dirty="0"/>
              <a:t>function from the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Seaborn library</a:t>
            </a:r>
            <a:r>
              <a:rPr lang="en-US" sz="1600" dirty="0"/>
              <a:t>. </a:t>
            </a:r>
            <a:r>
              <a:rPr lang="en-US" sz="1600" u="sng" dirty="0"/>
              <a:t>The boxplot provides a clear representation of the distribution of maze test scores for each strain, including the median, interquartile range, and overall spread of the data.</a:t>
            </a:r>
          </a:p>
          <a:p>
            <a:pPr algn="just"/>
            <a:endParaRPr lang="en-US" sz="1600" u="sng" dirty="0"/>
          </a:p>
          <a:p>
            <a:pPr algn="just"/>
            <a:r>
              <a:rPr lang="en-US" sz="1600" u="sng" dirty="0"/>
              <a:t>Different colors are used to distinguish between strains A and B, </a:t>
            </a:r>
            <a:r>
              <a:rPr lang="en-US" sz="1600" dirty="0"/>
              <a:t>making the comparison more intuitive. </a:t>
            </a:r>
            <a:r>
              <a:rPr lang="en-US" sz="1600" u="sng" dirty="0"/>
              <a:t>The boxplot shows that strain A has a clearly higher median maze test score than strain B. This observation is consistent with the mean values (mean A = 78.67, mean B = 65.80), </a:t>
            </a:r>
            <a:r>
              <a:rPr lang="en-US" sz="1600" dirty="0"/>
              <a:t>and the limited overlap between the interquartile ranges indicates a consistent difference in performance across the two </a:t>
            </a:r>
            <a:r>
              <a:rPr lang="en-US" sz="1600" dirty="0" err="1"/>
              <a:t>groups.Comments</a:t>
            </a:r>
            <a:r>
              <a:rPr lang="en-US" sz="1600" dirty="0"/>
              <a:t> in the code are added using the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# </a:t>
            </a:r>
            <a:r>
              <a:rPr lang="en-US" sz="1600" dirty="0"/>
              <a:t>symbol and are used to describe each step of the analysis for clarity and reproducibility.</a:t>
            </a:r>
          </a:p>
        </p:txBody>
      </p:sp>
      <p:pic>
        <p:nvPicPr>
          <p:cNvPr id="9" name="Εικόνα 8" descr="Εικόνα που περιέχει κείμενο, στιγμιότυπο οθόνης, διάγραμμα, λογισμικό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1B917D00-B8C6-3A47-FAD4-836B9A9197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5446" b="65635"/>
          <a:stretch>
            <a:fillRect/>
          </a:stretch>
        </p:blipFill>
        <p:spPr>
          <a:xfrm>
            <a:off x="538511" y="1597426"/>
            <a:ext cx="4614880" cy="1537660"/>
          </a:xfrm>
          <a:prstGeom prst="rect">
            <a:avLst/>
          </a:prstGeom>
        </p:spPr>
      </p:pic>
      <p:pic>
        <p:nvPicPr>
          <p:cNvPr id="13" name="Εικόνα 12">
            <a:extLst>
              <a:ext uri="{FF2B5EF4-FFF2-40B4-BE49-F238E27FC236}">
                <a16:creationId xmlns:a16="http://schemas.microsoft.com/office/drawing/2014/main" id="{5D21302C-8250-C992-D32F-556C0D1BA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2" y="0"/>
            <a:ext cx="5845629" cy="544272"/>
          </a:xfrm>
          <a:prstGeom prst="rect">
            <a:avLst/>
          </a:prstGeom>
        </p:spPr>
      </p:pic>
      <p:pic>
        <p:nvPicPr>
          <p:cNvPr id="15" name="Εικόνα 14" descr="Εικόνα που περιέχει κείμενο, στιγμιότυπο οθόνης, διάγραμμα, ορθογώνιο παραλληλόγραμμο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82F54F1D-879E-66F5-430B-F1B96CBCB9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0134" b="2014"/>
          <a:stretch>
            <a:fillRect/>
          </a:stretch>
        </p:blipFill>
        <p:spPr>
          <a:xfrm>
            <a:off x="538511" y="3086429"/>
            <a:ext cx="3668134" cy="308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35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24D6131-316E-5C30-42BC-170788F56DEF}"/>
              </a:ext>
            </a:extLst>
          </p:cNvPr>
          <p:cNvSpPr txBox="1"/>
          <p:nvPr/>
        </p:nvSpPr>
        <p:spPr>
          <a:xfrm>
            <a:off x="2346308" y="382179"/>
            <a:ext cx="7499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Q: Is strain C better at fear conditioning than strain D?</a:t>
            </a:r>
            <a:endParaRPr lang="el-G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9D03D-F83B-24CD-06BE-DCC2DB3A6D23}"/>
              </a:ext>
            </a:extLst>
          </p:cNvPr>
          <p:cNvSpPr txBox="1"/>
          <p:nvPr/>
        </p:nvSpPr>
        <p:spPr>
          <a:xfrm>
            <a:off x="5750440" y="3229524"/>
            <a:ext cx="5509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T-test (n=30)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p-value: 6.34e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p-value &lt; 0.001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0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is rejected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3D2FC9-2DCB-79AC-5266-BBBE23E80FAE}"/>
              </a:ext>
            </a:extLst>
          </p:cNvPr>
          <p:cNvSpPr txBox="1"/>
          <p:nvPr/>
        </p:nvSpPr>
        <p:spPr>
          <a:xfrm>
            <a:off x="5750440" y="4149413"/>
            <a:ext cx="62590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statistically significant difference (p&lt;0.001) in fear conditioning scores between the two strains. </a:t>
            </a:r>
          </a:p>
          <a:p>
            <a:pPr algn="just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suggest that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strain C performs better at fear conditioning tests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sign for better associative learning and memory capacity.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Ευθεία γραμμή σύνδεσης 10">
            <a:extLst>
              <a:ext uri="{FF2B5EF4-FFF2-40B4-BE49-F238E27FC236}">
                <a16:creationId xmlns:a16="http://schemas.microsoft.com/office/drawing/2014/main" id="{688E3B54-E879-0E4A-23B1-7BAC3D80B2F0}"/>
              </a:ext>
            </a:extLst>
          </p:cNvPr>
          <p:cNvCxnSpPr>
            <a:cxnSpLocks/>
          </p:cNvCxnSpPr>
          <p:nvPr/>
        </p:nvCxnSpPr>
        <p:spPr>
          <a:xfrm>
            <a:off x="-33251" y="6309359"/>
            <a:ext cx="12225251" cy="290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9EE6786-677B-73DC-85D4-1744BBBDC535}"/>
              </a:ext>
            </a:extLst>
          </p:cNvPr>
          <p:cNvSpPr txBox="1"/>
          <p:nvPr/>
        </p:nvSpPr>
        <p:spPr>
          <a:xfrm>
            <a:off x="4035827" y="6424301"/>
            <a:ext cx="41203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Elissavet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Anna Petsalaki – Neuro105 (09/01/2026)</a:t>
            </a:r>
            <a:endParaRPr lang="el-GR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077EF4-66EE-32C9-A0B0-D089CE2AA0E9}"/>
              </a:ext>
            </a:extLst>
          </p:cNvPr>
          <p:cNvSpPr txBox="1"/>
          <p:nvPr/>
        </p:nvSpPr>
        <p:spPr>
          <a:xfrm>
            <a:off x="295917" y="5472565"/>
            <a:ext cx="52702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1.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Box plot showing the score of strains C (n=15) (purple) and D (n=15) (blue) in fear conditioning tests. Triple asterisks denote high statistical significance (p&lt;0.001 , t-test)</a:t>
            </a:r>
            <a:endParaRPr lang="el-GR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Εικόνα 20" descr="Εικόνα που περιέχει κείμενο, στιγμιότυπο οθόνης, διάγραμμα, γραμμή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D93D5EC6-AB09-D832-E317-D7AADB954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77" y="1089464"/>
            <a:ext cx="5391150" cy="4352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8D9094-0F39-2805-27C3-374F8437B046}"/>
              </a:ext>
            </a:extLst>
          </p:cNvPr>
          <p:cNvSpPr txBox="1"/>
          <p:nvPr/>
        </p:nvSpPr>
        <p:spPr>
          <a:xfrm>
            <a:off x="5702325" y="1264654"/>
            <a:ext cx="6355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fear conditioning score of strain C = fear conditioning score of strain D H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fear conditioning score of strain C &gt; fear conditioning score of strain 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A1F4A-FCB5-4663-C2BD-8A7A2D65EA0B}"/>
              </a:ext>
            </a:extLst>
          </p:cNvPr>
          <p:cNvSpPr txBox="1"/>
          <p:nvPr/>
        </p:nvSpPr>
        <p:spPr>
          <a:xfrm>
            <a:off x="5702325" y="1971467"/>
            <a:ext cx="25720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score of strain C: 82.6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score of strain D: 70.6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A65C4D-2269-89B9-2356-B811BC7AF1F8}"/>
              </a:ext>
            </a:extLst>
          </p:cNvPr>
          <p:cNvSpPr txBox="1"/>
          <p:nvPr/>
        </p:nvSpPr>
        <p:spPr>
          <a:xfrm>
            <a:off x="5702325" y="2459491"/>
            <a:ext cx="5755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in scores: 12</a:t>
            </a:r>
          </a:p>
          <a:p>
            <a:pPr algn="just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this difference statistically significant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(is it random or not?)</a:t>
            </a:r>
          </a:p>
        </p:txBody>
      </p:sp>
    </p:spTree>
    <p:extLst>
      <p:ext uri="{BB962C8B-B14F-4D97-AF65-F5344CB8AC3E}">
        <p14:creationId xmlns:p14="http://schemas.microsoft.com/office/powerpoint/2010/main" val="2345746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6"/>
          <p:cNvSpPr txBox="1"/>
          <p:nvPr/>
        </p:nvSpPr>
        <p:spPr>
          <a:xfrm>
            <a:off x="993058" y="92377"/>
            <a:ext cx="11198942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BDNF expression correlate with maze test performance?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588258-4466-96D2-CC00-3DEBFE655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062" y="813243"/>
            <a:ext cx="6696835" cy="49544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0CF864-ED83-F797-B2BC-9E4D1CA93261}"/>
              </a:ext>
            </a:extLst>
          </p:cNvPr>
          <p:cNvSpPr txBox="1"/>
          <p:nvPr/>
        </p:nvSpPr>
        <p:spPr>
          <a:xfrm>
            <a:off x="127819" y="5798859"/>
            <a:ext cx="7816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Pearson correlation: r = 0.992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positive association between BDNF expression and maze test performance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04CAC6A-9213-85EB-957F-CB6927157450}"/>
              </a:ext>
            </a:extLst>
          </p:cNvPr>
          <p:cNvSpPr/>
          <p:nvPr/>
        </p:nvSpPr>
        <p:spPr>
          <a:xfrm>
            <a:off x="7659329" y="5798859"/>
            <a:ext cx="4336026" cy="428153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Permutation test: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600" dirty="0"/>
              <a:t>p &lt; 1 × 10⁻⁴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(10,000 shuffles</a:t>
            </a:r>
            <a:r>
              <a:rPr lang="en-US" sz="1600" dirty="0"/>
              <a:t>)</a:t>
            </a:r>
          </a:p>
        </p:txBody>
      </p:sp>
      <p:sp>
        <p:nvSpPr>
          <p:cNvPr id="7" name="Google Shape;324;p12">
            <a:extLst>
              <a:ext uri="{FF2B5EF4-FFF2-40B4-BE49-F238E27FC236}">
                <a16:creationId xmlns:a16="http://schemas.microsoft.com/office/drawing/2014/main" id="{32977AEA-B28F-B055-62AD-072D551EF23D}"/>
              </a:ext>
            </a:extLst>
          </p:cNvPr>
          <p:cNvSpPr txBox="1"/>
          <p:nvPr/>
        </p:nvSpPr>
        <p:spPr>
          <a:xfrm>
            <a:off x="-1052051" y="6550264"/>
            <a:ext cx="448350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Therianou</a:t>
            </a:r>
            <a:r>
              <a:rPr lang="en-US" sz="1400" dirty="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 Maria Neuro-105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134" y="1213834"/>
            <a:ext cx="6399533" cy="516713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196600" y="367701"/>
            <a:ext cx="77988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l" sz="2400">
                <a:solidFill>
                  <a:schemeClr val="dk2"/>
                </a:solidFill>
              </a:rPr>
              <a:t>Does GRIN1 expression correlate with social memory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405600" y="1126967"/>
            <a:ext cx="5786400" cy="5251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endParaRPr sz="2400">
              <a:solidFill>
                <a:schemeClr val="dk2"/>
              </a:solidFill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el" sz="2133">
                <a:solidFill>
                  <a:schemeClr val="dk2"/>
                </a:solidFill>
              </a:rPr>
              <a:t>Pearson correlation analysis revealed a very strong positive relationship</a:t>
            </a:r>
            <a:endParaRPr sz="2133">
              <a:solidFill>
                <a:schemeClr val="dk2"/>
              </a:solidFill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el" sz="2133">
                <a:solidFill>
                  <a:schemeClr val="dk2"/>
                </a:solidFill>
              </a:rPr>
              <a:t>between GRIN1 expression and social memory performance (r = 0.978, p &lt; 0.001),</a:t>
            </a:r>
            <a:endParaRPr sz="2133">
              <a:solidFill>
                <a:schemeClr val="dk2"/>
              </a:solidFill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el" sz="2133">
                <a:solidFill>
                  <a:schemeClr val="dk2"/>
                </a:solidFill>
              </a:rPr>
              <a:t>indicating that mice with higher GRIN1 expression tend to show better social</a:t>
            </a:r>
            <a:endParaRPr sz="2133">
              <a:solidFill>
                <a:schemeClr val="dk2"/>
              </a:solidFill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el" sz="2133">
                <a:solidFill>
                  <a:schemeClr val="dk2"/>
                </a:solidFill>
              </a:rPr>
              <a:t>memory scores.</a:t>
            </a:r>
            <a:endParaRPr sz="2133">
              <a:solidFill>
                <a:schemeClr val="dk2"/>
              </a:solidFill>
            </a:endParaRPr>
          </a:p>
          <a:p>
            <a:pPr algn="ctr">
              <a:buClr>
                <a:schemeClr val="dk1"/>
              </a:buClr>
              <a:buSzPts val="1100"/>
            </a:pPr>
            <a:endParaRPr sz="2133">
              <a:solidFill>
                <a:schemeClr val="dk2"/>
              </a:solidFill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el" sz="2133">
                <a:solidFill>
                  <a:schemeClr val="dk2"/>
                </a:solidFill>
              </a:rPr>
              <a:t>Given the role of GRIN1 in NMDA receptor function and synaptic plasticity, higher GRIN1</a:t>
            </a:r>
            <a:endParaRPr sz="2133">
              <a:solidFill>
                <a:schemeClr val="dk2"/>
              </a:solidFill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el" sz="2133">
                <a:solidFill>
                  <a:schemeClr val="dk2"/>
                </a:solidFill>
              </a:rPr>
              <a:t>expression may contribute to neural mechanisms that support social cognitive</a:t>
            </a:r>
            <a:endParaRPr sz="2133">
              <a:solidFill>
                <a:schemeClr val="dk2"/>
              </a:solidFill>
            </a:endParaRPr>
          </a:p>
          <a:p>
            <a:pPr algn="ctr">
              <a:buClr>
                <a:schemeClr val="dk1"/>
              </a:buClr>
              <a:buSzPts val="1100"/>
            </a:pPr>
            <a:r>
              <a:rPr lang="el" sz="2133">
                <a:solidFill>
                  <a:schemeClr val="dk2"/>
                </a:solidFill>
              </a:rPr>
              <a:t>performance.</a:t>
            </a:r>
            <a:endParaRPr sz="2133">
              <a:solidFill>
                <a:schemeClr val="dk2"/>
              </a:solidFill>
            </a:endParaRPr>
          </a:p>
          <a:p>
            <a:pPr>
              <a:buClr>
                <a:schemeClr val="dk1"/>
              </a:buClr>
              <a:buSzPts val="1100"/>
            </a:pP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35748" y="221227"/>
            <a:ext cx="11454580" cy="99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br>
              <a:rPr lang="en-GB" sz="3800">
                <a:latin typeface="Ubuntu Light"/>
                <a:ea typeface="Ubuntu Light"/>
                <a:cs typeface="Ubuntu Light"/>
                <a:sym typeface="Ubuntu Light"/>
              </a:rPr>
            </a:br>
            <a:r>
              <a:rPr lang="en-GB" sz="3800">
                <a:latin typeface="Ubuntu Light"/>
                <a:ea typeface="Ubuntu Light"/>
                <a:cs typeface="Ubuntu Light"/>
                <a:sym typeface="Ubuntu Light"/>
              </a:rPr>
              <a:t>Do mice with exercise wheels perform better on object recognition?</a:t>
            </a:r>
            <a:endParaRPr>
              <a:latin typeface="Ubuntu Light"/>
              <a:ea typeface="Ubuntu Light"/>
              <a:cs typeface="Ubuntu Light"/>
              <a:sym typeface="Ubuntu Light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5982925" y="1987300"/>
            <a:ext cx="5257200" cy="28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>
                <a:latin typeface="Ubuntu Light"/>
                <a:ea typeface="Ubuntu Light"/>
                <a:cs typeface="Ubuntu Light"/>
                <a:sym typeface="Ubuntu Light"/>
              </a:rPr>
              <a:t>An independent student’s t-test showed that mice who had access to exercise wheels in their cages performed significantly better in the object recognition test, t(118) = 4.03, p &lt; 0.001.</a:t>
            </a:r>
            <a:endParaRPr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86" name="Google Shape;86;p1" descr="A graph of a dia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438" y="1476068"/>
            <a:ext cx="5562600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35748" y="6251115"/>
            <a:ext cx="24698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NEURO-105</a:t>
            </a:r>
            <a:b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Maria Manousou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35748" y="221227"/>
            <a:ext cx="11454580" cy="99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br>
              <a:rPr lang="en-GB" sz="3800">
                <a:latin typeface="Ubuntu Light"/>
                <a:ea typeface="Ubuntu Light"/>
                <a:cs typeface="Ubuntu Light"/>
                <a:sym typeface="Ubuntu Light"/>
              </a:rPr>
            </a:br>
            <a:r>
              <a:rPr lang="en-GB" sz="3800">
                <a:latin typeface="Ubuntu Light"/>
                <a:ea typeface="Ubuntu Light"/>
                <a:cs typeface="Ubuntu Light"/>
                <a:sym typeface="Ubuntu Light"/>
              </a:rPr>
              <a:t>Do mice with exercise wheels perform better on object recognition?</a:t>
            </a:r>
            <a:endParaRPr>
              <a:latin typeface="Ubuntu Light"/>
              <a:ea typeface="Ubuntu Light"/>
              <a:cs typeface="Ubuntu Light"/>
              <a:sym typeface="Ubuntu Light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5982925" y="1987300"/>
            <a:ext cx="5257200" cy="28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>
                <a:latin typeface="Ubuntu Light"/>
                <a:ea typeface="Ubuntu Light"/>
                <a:cs typeface="Ubuntu Light"/>
                <a:sym typeface="Ubuntu Light"/>
              </a:rPr>
              <a:t>An independent student’s t-test showed that mice who had access to exercise wheels in their cages performed significantly better in the object recognition test, t(118) = 4.03, p &lt; 0.001.</a:t>
            </a:r>
            <a:endParaRPr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86" name="Google Shape;86;p1" descr="A graph of a dia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438" y="1476068"/>
            <a:ext cx="5562600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35748" y="6251115"/>
            <a:ext cx="24698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NEURO-105</a:t>
            </a:r>
            <a:b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Maria Manousou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 descr="Εικόνα που περιέχει κείμενο, γραμμή, διάγραμμα, γράφημα&#10;&#10;Το περιεχόμενο που δημιουργείται από AI ενδέχεται να είναι εσφαλμένο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036" y="1236547"/>
            <a:ext cx="6300221" cy="485051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>
            <a:spLocks noGrp="1"/>
          </p:cNvSpPr>
          <p:nvPr>
            <p:ph type="title" idx="4294967295"/>
          </p:nvPr>
        </p:nvSpPr>
        <p:spPr>
          <a:xfrm>
            <a:off x="2019575" y="243799"/>
            <a:ext cx="9105600" cy="7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l-GR" b="1"/>
              <a:t>Does diet affect fear conditioning? </a:t>
            </a:r>
            <a:endParaRPr b="1"/>
          </a:p>
        </p:txBody>
      </p:sp>
      <p:sp>
        <p:nvSpPr>
          <p:cNvPr id="103" name="Google Shape;103;p1"/>
          <p:cNvSpPr txBox="1"/>
          <p:nvPr/>
        </p:nvSpPr>
        <p:spPr>
          <a:xfrm>
            <a:off x="7105651" y="5026517"/>
            <a:ext cx="4857749" cy="674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So, high-fat diet is associated with lower fear conditioning performance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7105651" y="2013322"/>
            <a:ext cx="4019549" cy="777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 diet: median = 69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High-fat diet: median = 65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105650" y="3371750"/>
            <a:ext cx="4719000" cy="10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Normality assessed with Shapiro–Wilk test (p &gt; 0.05)</a:t>
            </a:r>
            <a:endParaRPr/>
          </a:p>
          <a:p>
            <a:pPr marL="342900" marR="0" lvl="0" indent="-34290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∙"/>
            </a:pPr>
            <a:r>
              <a:rPr lang="el-G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independent t-test indicated: p &lt; 0.05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524000" y="288"/>
            <a:ext cx="9144000" cy="685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title"/>
          </p:nvPr>
        </p:nvSpPr>
        <p:spPr>
          <a:xfrm>
            <a:off x="2007799" y="525983"/>
            <a:ext cx="3212237" cy="1200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SzPts val="2400"/>
            </a:pPr>
            <a:r>
              <a:rPr lang="en-US" sz="2400" b="1"/>
              <a:t>Maze Test Performance Differs Between Mouse Strains E and G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 flipH="1">
            <a:off x="1986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>
            <a:spLocks noGrp="1"/>
          </p:cNvSpPr>
          <p:nvPr>
            <p:ph type="body" idx="1"/>
          </p:nvPr>
        </p:nvSpPr>
        <p:spPr>
          <a:xfrm>
            <a:off x="1872575" y="2190925"/>
            <a:ext cx="33474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9250">
              <a:spcBef>
                <a:spcPts val="0"/>
              </a:spcBef>
              <a:buSzPts val="1600"/>
            </a:pPr>
            <a:r>
              <a:rPr lang="en-US" sz="1600"/>
              <a:t>Maze test performance was compared between mouse strains E and G (n = 15 per group).</a:t>
            </a:r>
            <a:endParaRPr sz="3300"/>
          </a:p>
          <a:p>
            <a:pPr marL="742950" lvl="1" indent="-292100">
              <a:spcBef>
                <a:spcPts val="300"/>
              </a:spcBef>
              <a:buSzPts val="1600"/>
              <a:buChar char="–"/>
            </a:pPr>
            <a:r>
              <a:rPr lang="en-US" sz="1600"/>
              <a:t>Strain E showed higher maze test scores than strain G (mean ± SD: 85.8 ± 3.28 vs 72.6 ± 3.22).</a:t>
            </a:r>
            <a:endParaRPr sz="2900"/>
          </a:p>
          <a:p>
            <a:pPr marL="742950" lvl="1" indent="-292100">
              <a:spcBef>
                <a:spcPts val="300"/>
              </a:spcBef>
              <a:buSzPts val="1600"/>
              <a:buChar char="–"/>
            </a:pPr>
            <a:r>
              <a:rPr lang="en-US" sz="1600"/>
              <a:t>t-test revealed a highly significant difference (t = 11.12, p = 8.8 × 10⁻¹²).</a:t>
            </a:r>
            <a:endParaRPr sz="2900"/>
          </a:p>
        </p:txBody>
      </p:sp>
      <p:sp>
        <p:nvSpPr>
          <p:cNvPr id="88" name="Google Shape;88;p1"/>
          <p:cNvSpPr/>
          <p:nvPr/>
        </p:nvSpPr>
        <p:spPr>
          <a:xfrm rot="5400000">
            <a:off x="1262035" y="6072627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 rot="5400000">
            <a:off x="5860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5796594" y="354959"/>
            <a:ext cx="4638730" cy="591521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0323" y="706678"/>
            <a:ext cx="4231302" cy="279265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5880662" y="3499321"/>
            <a:ext cx="4470600" cy="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400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Boxplot showing maze test scores for mouse strains E and G. Strain E exhibits a higher median and overall score distribution compared to strain G. </a:t>
            </a:r>
            <a:endParaRPr/>
          </a:p>
        </p:txBody>
      </p:sp>
      <p:sp>
        <p:nvSpPr>
          <p:cNvPr id="93" name="Google Shape;93;p1"/>
          <p:cNvSpPr txBox="1">
            <a:spLocks noGrp="1"/>
          </p:cNvSpPr>
          <p:nvPr>
            <p:ph type="body" idx="1"/>
          </p:nvPr>
        </p:nvSpPr>
        <p:spPr>
          <a:xfrm>
            <a:off x="6012700" y="4354025"/>
            <a:ext cx="4283400" cy="18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300" b="1"/>
              <a:t>Using Python:</a:t>
            </a:r>
            <a:endParaRPr sz="1300" b="1"/>
          </a:p>
          <a:p>
            <a:pPr indent="-311150">
              <a:spcBef>
                <a:spcPts val="0"/>
              </a:spcBef>
              <a:buSzPts val="1300"/>
            </a:pPr>
            <a:r>
              <a:rPr lang="en-US" sz="1300"/>
              <a:t>load data mice = and (infile)</a:t>
            </a:r>
            <a:endParaRPr sz="1300"/>
          </a:p>
          <a:p>
            <a:pPr indent="-311150">
              <a:spcBef>
                <a:spcPts val="0"/>
              </a:spcBef>
              <a:buSzPts val="1300"/>
            </a:pPr>
            <a:r>
              <a:rPr lang="en-US" sz="1300"/>
              <a:t>select groups E, G: df, isin()</a:t>
            </a:r>
            <a:endParaRPr sz="1300"/>
          </a:p>
          <a:p>
            <a:pPr indent="-311150">
              <a:spcBef>
                <a:spcPts val="0"/>
              </a:spcBef>
              <a:buSzPts val="1300"/>
            </a:pPr>
            <a:r>
              <a:rPr lang="en-US" sz="1300"/>
              <a:t>statistics groupby(‘strain’)[‘maze_test’]</a:t>
            </a:r>
            <a:endParaRPr sz="1300"/>
          </a:p>
          <a:p>
            <a:pPr indent="-311150">
              <a:spcBef>
                <a:spcPts val="0"/>
              </a:spcBef>
              <a:buSzPts val="1300"/>
            </a:pPr>
            <a:r>
              <a:rPr lang="en-US" sz="1300"/>
              <a:t>plots sns.boxplot</a:t>
            </a:r>
            <a:endParaRPr sz="1300"/>
          </a:p>
          <a:p>
            <a:pPr indent="-311150">
              <a:spcBef>
                <a:spcPts val="0"/>
              </a:spcBef>
              <a:buSzPts val="1300"/>
            </a:pPr>
            <a:r>
              <a:rPr lang="en-US" sz="1300"/>
              <a:t>normality stats.shapiro</a:t>
            </a:r>
            <a:endParaRPr sz="1300"/>
          </a:p>
          <a:p>
            <a:pPr indent="-311150">
              <a:spcBef>
                <a:spcPts val="0"/>
              </a:spcBef>
              <a:buSzPts val="1300"/>
            </a:pPr>
            <a:r>
              <a:rPr lang="en-US" sz="1300"/>
              <a:t>t-test stats.ttest</a:t>
            </a:r>
            <a:endParaRPr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028533"/>
            <a:ext cx="6940487" cy="5656704"/>
          </a:xfrm>
          <a:custGeom>
            <a:avLst/>
            <a:gdLst/>
            <a:ahLst/>
            <a:cxnLst/>
            <a:rect l="l" t="t" r="r" b="b"/>
            <a:pathLst>
              <a:path w="10410730" h="8485056">
                <a:moveTo>
                  <a:pt x="0" y="0"/>
                </a:moveTo>
                <a:lnTo>
                  <a:pt x="10410730" y="0"/>
                </a:lnTo>
                <a:lnTo>
                  <a:pt x="10410730" y="8485056"/>
                </a:lnTo>
                <a:lnTo>
                  <a:pt x="0" y="8485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042"/>
            </a:stretch>
          </a:blipFill>
          <a:ln>
            <a:solidFill>
              <a:schemeClr val="tx1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1687202" y="568523"/>
            <a:ext cx="9133945" cy="36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7"/>
              </a:lnSpc>
              <a:spcBef>
                <a:spcPct val="0"/>
              </a:spcBef>
            </a:pPr>
            <a:r>
              <a:rPr lang="en-US" sz="2133">
                <a:latin typeface="Noto Sans"/>
                <a:ea typeface="Noto Sans"/>
                <a:cs typeface="Noto Sans"/>
                <a:sym typeface="Noto Sans"/>
              </a:rPr>
              <a:t>Does </a:t>
            </a:r>
            <a:r>
              <a:rPr lang="en-US" sz="2133" b="1">
                <a:latin typeface="Noto Sans Bold"/>
                <a:ea typeface="Noto Sans Bold"/>
                <a:cs typeface="Noto Sans Bold"/>
                <a:sym typeface="Noto Sans Bold"/>
              </a:rPr>
              <a:t>CREB1 </a:t>
            </a:r>
            <a:r>
              <a:rPr lang="en-US" sz="2133">
                <a:latin typeface="Noto Sans"/>
                <a:ea typeface="Noto Sans"/>
                <a:cs typeface="Noto Sans"/>
                <a:sym typeface="Noto Sans"/>
              </a:rPr>
              <a:t>expression correlate with object recognition performance?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71330" y="195296"/>
            <a:ext cx="7849341" cy="323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7"/>
              </a:lnSpc>
              <a:spcBef>
                <a:spcPct val="0"/>
              </a:spcBef>
            </a:pPr>
            <a:r>
              <a:rPr lang="en-US" sz="1933">
                <a:latin typeface="Noto Sans"/>
                <a:ea typeface="Noto Sans"/>
                <a:cs typeface="Noto Sans"/>
                <a:sym typeface="Noto Sans"/>
              </a:rPr>
              <a:t>Neuro 105: Project Python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44327" y="2216047"/>
            <a:ext cx="3390718" cy="3323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0"/>
              </a:lnSpc>
              <a:spcBef>
                <a:spcPct val="0"/>
              </a:spcBef>
            </a:pPr>
            <a:r>
              <a:rPr lang="en-US" sz="2050">
                <a:latin typeface="Noto Sans"/>
                <a:ea typeface="Noto Sans"/>
                <a:cs typeface="Noto Sans"/>
                <a:sym typeface="Noto Sans"/>
              </a:rPr>
              <a:t>A strong positive correlation was observed between </a:t>
            </a:r>
            <a:r>
              <a:rPr lang="en-US" sz="2050" b="1">
                <a:latin typeface="Noto Sans Bold"/>
                <a:ea typeface="Noto Sans Bold"/>
                <a:cs typeface="Noto Sans Bold"/>
                <a:sym typeface="Noto Sans Bold"/>
              </a:rPr>
              <a:t>CREB1 </a:t>
            </a:r>
            <a:r>
              <a:rPr lang="en-US" sz="2050">
                <a:latin typeface="Noto Sans"/>
                <a:ea typeface="Noto Sans"/>
                <a:cs typeface="Noto Sans"/>
                <a:sym typeface="Noto Sans"/>
              </a:rPr>
              <a:t>expression and object recognition performance. Higher </a:t>
            </a:r>
            <a:r>
              <a:rPr lang="en-US" sz="2050" b="1">
                <a:latin typeface="Noto Sans Bold"/>
                <a:ea typeface="Noto Sans Bold"/>
                <a:cs typeface="Noto Sans Bold"/>
                <a:sym typeface="Noto Sans Bold"/>
              </a:rPr>
              <a:t>CREB1 </a:t>
            </a:r>
            <a:r>
              <a:rPr lang="en-US" sz="2050">
                <a:latin typeface="Noto Sans"/>
                <a:ea typeface="Noto Sans"/>
                <a:cs typeface="Noto Sans"/>
                <a:sym typeface="Noto Sans"/>
              </a:rPr>
              <a:t>levels were associated with better cognitive performance </a:t>
            </a:r>
          </a:p>
          <a:p>
            <a:pPr algn="ctr">
              <a:lnSpc>
                <a:spcPts val="2870"/>
              </a:lnSpc>
              <a:spcBef>
                <a:spcPct val="0"/>
              </a:spcBef>
            </a:pPr>
            <a:r>
              <a:rPr lang="en-US" sz="2050">
                <a:latin typeface="Noto Sans"/>
                <a:ea typeface="Noto Sans"/>
                <a:cs typeface="Noto Sans"/>
                <a:sym typeface="Noto Sans"/>
              </a:rPr>
              <a:t>(</a:t>
            </a:r>
            <a:r>
              <a:rPr lang="en-US" sz="2050" i="1">
                <a:latin typeface="Noto Sans Italics"/>
                <a:ea typeface="Noto Sans Italics"/>
                <a:cs typeface="Noto Sans Italics"/>
                <a:sym typeface="Noto Sans Italics"/>
              </a:rPr>
              <a:t>r = .86, p &lt; .001</a:t>
            </a:r>
            <a:r>
              <a:rPr lang="en-US" sz="2050">
                <a:latin typeface="Noto Sans"/>
                <a:ea typeface="Noto Sans"/>
                <a:cs typeface="Noto Sans"/>
                <a:sym typeface="Noto Sans"/>
              </a:rPr>
              <a:t>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293751" y="6642523"/>
            <a:ext cx="7068442" cy="215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3"/>
              </a:lnSpc>
              <a:spcBef>
                <a:spcPct val="0"/>
              </a:spcBef>
            </a:pPr>
            <a:r>
              <a:rPr lang="en-US" sz="1266" i="1">
                <a:latin typeface="Noto Sans Italics"/>
                <a:ea typeface="Noto Sans Italics"/>
                <a:cs typeface="Noto Sans Italics"/>
                <a:sym typeface="Noto Sans Italics"/>
              </a:rPr>
              <a:t>Figure 1. Relationship between CREB1 expression and object recognition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Εικόνα 5" descr="Εικόνα που περιέχει κείμενο, στιγμιότυπο οθόνης, γραμμή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0A8A42D3-A388-DD85-95CB-3092FA8B2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/>
          <a:stretch>
            <a:fillRect/>
          </a:stretch>
        </p:blipFill>
        <p:spPr>
          <a:xfrm>
            <a:off x="50800" y="752223"/>
            <a:ext cx="8115300" cy="4765800"/>
          </a:xfrm>
          <a:prstGeom prst="rect">
            <a:avLst/>
          </a:prstGeom>
        </p:spPr>
      </p:pic>
      <p:pic>
        <p:nvPicPr>
          <p:cNvPr id="13" name="Εικόνα 12" descr="Εικόνα που περιέχει κείμενο, διάγραμμα, γραμμή, στιγμιότυπο οθόν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BF282B1C-9A97-99A8-7879-C2B33A8FA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3080" y="2285903"/>
            <a:ext cx="4008120" cy="28117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2AB74FB-00EC-9AFF-F398-A5F9062CBDC4}"/>
              </a:ext>
            </a:extLst>
          </p:cNvPr>
          <p:cNvSpPr txBox="1"/>
          <p:nvPr/>
        </p:nvSpPr>
        <p:spPr>
          <a:xfrm>
            <a:off x="609600" y="5739017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 significantly predicts object recognition performance </a:t>
            </a:r>
            <a:r>
              <a:rPr lang="en-US" sz="1600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 = 0.406, p &lt; 0.001), </a:t>
            </a:r>
            <a:r>
              <a:rPr lang="en-US" sz="1600" b="1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explaining 16.5% of variance</a:t>
            </a:r>
            <a:r>
              <a:rPr lang="en-US" sz="1600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Object recognition scores increase by approximately 1.8 points per week of age, indicating a </a:t>
            </a:r>
            <a:r>
              <a:rPr lang="en-US" sz="1600" dirty="0">
                <a:solidFill>
                  <a:srgbClr val="FF0000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moderate positive relationship where older mice consistently score higher</a:t>
            </a:r>
            <a:r>
              <a:rPr lang="en-US" sz="1600" dirty="0"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l-GR" sz="1600" dirty="0"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0CDE62-C9CB-9827-49E4-A0607A21E0A7}"/>
              </a:ext>
            </a:extLst>
          </p:cNvPr>
          <p:cNvSpPr txBox="1"/>
          <p:nvPr/>
        </p:nvSpPr>
        <p:spPr>
          <a:xfrm>
            <a:off x="8166100" y="508980"/>
            <a:ext cx="372110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sz="2500" dirty="0">
                <a:effectLst/>
                <a:latin typeface="Aptos" panose="020B0004020202020204" pitchFamily="34" charset="0"/>
              </a:rPr>
              <a:t>Mouse Cognition Study: </a:t>
            </a:r>
            <a:br>
              <a:rPr lang="en-US" sz="2400" dirty="0">
                <a:effectLst/>
                <a:latin typeface="Aptos" panose="020B0004020202020204" pitchFamily="34" charset="0"/>
              </a:rPr>
            </a:br>
            <a:r>
              <a:rPr lang="en-US" sz="2400" b="1" i="1" dirty="0">
                <a:solidFill>
                  <a:schemeClr val="accent6"/>
                </a:solidFill>
                <a:effectLst/>
                <a:latin typeface="Aptos" panose="020B0004020202020204" pitchFamily="34" charset="0"/>
              </a:rPr>
              <a:t>Does Age Affect Object Recognition?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A05604-6085-5945-04E2-270AECE1862D}"/>
              </a:ext>
            </a:extLst>
          </p:cNvPr>
          <p:cNvSpPr txBox="1"/>
          <p:nvPr/>
        </p:nvSpPr>
        <p:spPr>
          <a:xfrm>
            <a:off x="0" y="44694"/>
            <a:ext cx="4037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 NEURO105 - Georgia Koromila (09.02.2026)</a:t>
            </a:r>
            <a:endParaRPr lang="el-GR" sz="110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23" name="Ευθεία γραμμή σύνδεσης 22">
            <a:extLst>
              <a:ext uri="{FF2B5EF4-FFF2-40B4-BE49-F238E27FC236}">
                <a16:creationId xmlns:a16="http://schemas.microsoft.com/office/drawing/2014/main" id="{1C6A1D37-3AD7-C83C-C097-22D5EEB6E160}"/>
              </a:ext>
            </a:extLst>
          </p:cNvPr>
          <p:cNvCxnSpPr>
            <a:cxnSpLocks/>
          </p:cNvCxnSpPr>
          <p:nvPr/>
        </p:nvCxnSpPr>
        <p:spPr>
          <a:xfrm flipV="1">
            <a:off x="0" y="5558863"/>
            <a:ext cx="12192000" cy="2615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155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997</Words>
  <Application>Microsoft Macintosh PowerPoint</Application>
  <PresentationFormat>Widescreen</PresentationFormat>
  <Paragraphs>74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Ubuntu Light</vt:lpstr>
      <vt:lpstr>Calibri</vt:lpstr>
      <vt:lpstr>Noto Sans</vt:lpstr>
      <vt:lpstr>Noto Sans Symbols</vt:lpstr>
      <vt:lpstr>Aptos</vt:lpstr>
      <vt:lpstr>Arial</vt:lpstr>
      <vt:lpstr>Noto Sans Bold</vt:lpstr>
      <vt:lpstr>Times New Roman</vt:lpstr>
      <vt:lpstr>Noto Sans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 Do mice with exercise wheels perform better on object recognition?</vt:lpstr>
      <vt:lpstr> Do mice with exercise wheels perform better on object recognition?</vt:lpstr>
      <vt:lpstr>Does diet affect fear conditioning? </vt:lpstr>
      <vt:lpstr>Maze Test Performance Differs Between Mouse Strains E and 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Mary Manousou</dc:creator>
  <cp:lastModifiedBy>Alexandros Pittis</cp:lastModifiedBy>
  <cp:revision>5</cp:revision>
  <dcterms:created xsi:type="dcterms:W3CDTF">2026-02-06T21:42:08Z</dcterms:created>
  <dcterms:modified xsi:type="dcterms:W3CDTF">2026-02-09T14:18:44Z</dcterms:modified>
</cp:coreProperties>
</file>