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B4C9-4617-4C6F-8FEA-6486FF4E475C}" type="datetimeFigureOut">
              <a:rPr lang="el-GR" smtClean="0"/>
              <a:t>7/2/2026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B9ED5C-DA7D-4AA1-AFE5-2CBC878376E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2380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A0AAC-F06D-4609-91F8-B45E98EEFBEA}" type="datetime1">
              <a:rPr lang="el-GR" smtClean="0"/>
              <a:t>7/2/2026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MAVRIDI NEURO 105</a:t>
            </a:r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D2B-E1B1-4748-85CE-BC9E4F21B7D9}" type="slidenum">
              <a:rPr lang="el-GR" smtClean="0"/>
              <a:t>‹#›</a:t>
            </a:fld>
            <a:endParaRPr lang="el-G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47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129D6-ABB6-4B24-9FEF-F6DEE0C6CFF3}" type="datetime1">
              <a:rPr lang="el-GR" smtClean="0"/>
              <a:t>7/2/2026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MAVRIDI NEURO 105</a:t>
            </a:r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D2B-E1B1-4748-85CE-BC9E4F21B7D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84923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Κεφαλίδα ενότητα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406D3-620B-4CFB-8B97-C691FE8012E5}" type="datetime1">
              <a:rPr lang="el-GR" smtClean="0"/>
              <a:t>7/2/2026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MAVRIDI NEURO 105</a:t>
            </a:r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D2B-E1B1-4748-85CE-BC9E4F21B7D9}" type="slidenum">
              <a:rPr lang="el-GR" smtClean="0"/>
              <a:t>‹#›</a:t>
            </a:fld>
            <a:endParaRPr lang="el-G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869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05CD6-3A30-48DF-B8A4-0CFF9CD77095}" type="datetime1">
              <a:rPr lang="el-GR" smtClean="0"/>
              <a:t>7/2/2026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MAVRIDI NEURO 105</a:t>
            </a:r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D2B-E1B1-4748-85CE-BC9E4F21B7D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36907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8DC4C-FB75-46EF-8609-76F8F98C5943}" type="datetime1">
              <a:rPr lang="el-GR" smtClean="0"/>
              <a:t>7/2/2026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MAVRIDI NEURO 105</a:t>
            </a:r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D2B-E1B1-4748-85CE-BC9E4F21B7D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371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4BAD8-C6E6-44D6-902E-E5B948BA15B0}" type="datetime1">
              <a:rPr lang="el-GR" smtClean="0"/>
              <a:t>7/2/2026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MAVRIDI NEURO 105</a:t>
            </a:r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D2B-E1B1-4748-85CE-BC9E4F21B7D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500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164D6-00D8-48B8-8816-2360C20E5C53}" type="datetime1">
              <a:rPr lang="el-GR" smtClean="0"/>
              <a:t>7/2/2026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it-IT"/>
              <a:t>MARIA MAVRIDI NEURO 105</a:t>
            </a:r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D2B-E1B1-4748-85CE-BC9E4F21B7D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4992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594680D-36E5-4E66-94CB-750DB98C7A52}" type="datetime1">
              <a:rPr lang="el-GR" smtClean="0"/>
              <a:t>7/2/2026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MARIA MAVRIDI NEURO 105</a:t>
            </a:r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5C3D2B-E1B1-4748-85CE-BC9E4F21B7D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9421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C4490-2229-418B-B357-21941F4E9342}" type="datetime1">
              <a:rPr lang="el-GR" smtClean="0"/>
              <a:t>7/2/2026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MAVRIDI NEURO 105</a:t>
            </a:r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D2B-E1B1-4748-85CE-BC9E4F21B7D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3739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EB1C-891B-4BC4-B6C8-00FCF0909DB7}" type="datetime1">
              <a:rPr lang="el-GR" smtClean="0"/>
              <a:t>7/2/2026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MAVRIDI NEURO 105</a:t>
            </a:r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D2B-E1B1-4748-85CE-BC9E4F21B7D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4141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0A70-9C98-471A-9C7A-66594C95BF2D}" type="datetime1">
              <a:rPr lang="el-GR" smtClean="0"/>
              <a:t>7/2/2026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MAVRIDI NEURO 105</a:t>
            </a:r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D2B-E1B1-4748-85CE-BC9E4F21B7D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6866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CEB9A82-0444-4E69-9383-FBEFA6F812D4}" type="datetime1">
              <a:rPr lang="el-GR" smtClean="0"/>
              <a:t>7/2/2026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it-IT"/>
              <a:t>MARIA MAVRIDI NEURO 105</a:t>
            </a:r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55C3D2B-E1B1-4748-85CE-BC9E4F21B7D9}" type="slidenum">
              <a:rPr lang="el-GR" smtClean="0"/>
              <a:t>‹#›</a:t>
            </a:fld>
            <a:endParaRPr lang="el-G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130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4F949BDC-F616-22F3-031E-AA63DEF7C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69D0-0D9C-4794-BE25-96BD94D5A40C}" type="datetime1">
              <a:rPr lang="el-GR" smtClean="0"/>
              <a:t>7/2/2026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E3CC78AC-F026-1AF2-73B1-DE8A4CDEF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MAVRIDI NEURO 105</a:t>
            </a:r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97B2D6C-61BB-CB0B-95CC-233E7B41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D2B-E1B1-4748-85CE-BC9E4F21B7D9}" type="slidenum">
              <a:rPr lang="el-GR" smtClean="0"/>
              <a:t>1</a:t>
            </a:fld>
            <a:endParaRPr lang="el-GR"/>
          </a:p>
        </p:txBody>
      </p:sp>
      <p:pic>
        <p:nvPicPr>
          <p:cNvPr id="6" name="Εικόνα 5" descr="Εικόνα που περιέχει κείμενο, γραμματοσειρά, γραμμή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CC76B57C-7EA5-1318-2C8F-0048864452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291" r="69766" b="56637"/>
          <a:stretch>
            <a:fillRect/>
          </a:stretch>
        </p:blipFill>
        <p:spPr>
          <a:xfrm>
            <a:off x="0" y="525780"/>
            <a:ext cx="5691903" cy="1200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4C64D9-5CBF-E24A-D655-892116C73004}"/>
              </a:ext>
            </a:extLst>
          </p:cNvPr>
          <p:cNvSpPr txBox="1"/>
          <p:nvPr/>
        </p:nvSpPr>
        <p:spPr>
          <a:xfrm>
            <a:off x="6096000" y="-34300"/>
            <a:ext cx="5987143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We create a new </a:t>
            </a:r>
            <a:r>
              <a:rPr lang="en-US" sz="1600" dirty="0" err="1"/>
              <a:t>dataframe</a:t>
            </a:r>
            <a:r>
              <a:rPr lang="en-US" sz="1600" dirty="0"/>
              <a:t>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ab </a:t>
            </a:r>
            <a:r>
              <a:rPr lang="en-US" sz="1600" dirty="0"/>
              <a:t>by filtering the original mice dataset in order to keep only the observations corresponding to strains A and B. This is done using the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isin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() </a:t>
            </a:r>
            <a:r>
              <a:rPr lang="en-US" sz="1600" dirty="0"/>
              <a:t>function on the strain column.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The analytical plan is to compare the mean maze test scores between the two strains. To achieve this, we group the data by strain using the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groupby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('strain') </a:t>
            </a:r>
            <a:r>
              <a:rPr lang="en-US" sz="1600" dirty="0"/>
              <a:t>function and compute the mean maze test score for each group using the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.mean() </a:t>
            </a:r>
            <a:r>
              <a:rPr lang="en-US" sz="1600" dirty="0"/>
              <a:t>command</a:t>
            </a:r>
            <a:r>
              <a:rPr lang="el-GR" sz="1600" dirty="0"/>
              <a:t>. </a:t>
            </a:r>
            <a:r>
              <a:rPr lang="en-US" sz="1600" u="sng" dirty="0"/>
              <a:t>This step provides the average maze performance for strain A and strain B, allowing a direct numerical comparison between the two groups.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To visually assess the differences between the two strains, we generate a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boxplot </a:t>
            </a:r>
            <a:r>
              <a:rPr lang="en-US" sz="1600" dirty="0"/>
              <a:t>using the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sns.boxplot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() </a:t>
            </a:r>
            <a:r>
              <a:rPr lang="en-US" sz="1600" dirty="0"/>
              <a:t>function from the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Seaborn library</a:t>
            </a:r>
            <a:r>
              <a:rPr lang="en-US" sz="1600" dirty="0"/>
              <a:t>. </a:t>
            </a:r>
            <a:r>
              <a:rPr lang="en-US" sz="1600" u="sng" dirty="0"/>
              <a:t>The boxplot provides a clear representation of the distribution of maze test scores for each strain, including the median, interquartile range, and overall spread of the data.</a:t>
            </a:r>
          </a:p>
          <a:p>
            <a:pPr algn="just"/>
            <a:endParaRPr lang="en-US" sz="1600" u="sng" dirty="0"/>
          </a:p>
          <a:p>
            <a:pPr algn="just"/>
            <a:r>
              <a:rPr lang="en-US" sz="1600" u="sng" dirty="0"/>
              <a:t>Different colors are used to distinguish between strains A and B, </a:t>
            </a:r>
            <a:r>
              <a:rPr lang="en-US" sz="1600" dirty="0"/>
              <a:t>making the comparison more intuitive. </a:t>
            </a:r>
            <a:r>
              <a:rPr lang="en-US" sz="1600" u="sng" dirty="0"/>
              <a:t>The boxplot shows that strain A has a clearly higher median maze test score than strain B. This observation is consistent with the mean values (mean A = 78.67, mean B = 65.80), </a:t>
            </a:r>
            <a:r>
              <a:rPr lang="en-US" sz="1600" dirty="0"/>
              <a:t>and the limited overlap between the interquartile ranges indicates a consistent difference in performance across the two </a:t>
            </a:r>
            <a:r>
              <a:rPr lang="en-US" sz="1600" dirty="0" err="1"/>
              <a:t>groups.Comments</a:t>
            </a:r>
            <a:r>
              <a:rPr lang="en-US" sz="1600" dirty="0"/>
              <a:t> in the code are added using the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# </a:t>
            </a:r>
            <a:r>
              <a:rPr lang="en-US" sz="1600" dirty="0"/>
              <a:t>symbol and are used to describe each step of the analysis for clarity and reproducibility.</a:t>
            </a:r>
          </a:p>
        </p:txBody>
      </p:sp>
      <p:pic>
        <p:nvPicPr>
          <p:cNvPr id="9" name="Εικόνα 8" descr="Εικόνα που περιέχει κείμενο, στιγμιότυπο οθόνης, διάγραμμα, λογισμικό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1B917D00-B8C6-3A47-FAD4-836B9A9197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446" b="65635"/>
          <a:stretch>
            <a:fillRect/>
          </a:stretch>
        </p:blipFill>
        <p:spPr>
          <a:xfrm>
            <a:off x="538511" y="1597426"/>
            <a:ext cx="4614880" cy="1537660"/>
          </a:xfrm>
          <a:prstGeom prst="rect">
            <a:avLst/>
          </a:prstGeom>
        </p:spPr>
      </p:pic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5D21302C-8250-C992-D32F-556C0D1BA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2" y="0"/>
            <a:ext cx="5845629" cy="544272"/>
          </a:xfrm>
          <a:prstGeom prst="rect">
            <a:avLst/>
          </a:prstGeom>
        </p:spPr>
      </p:pic>
      <p:pic>
        <p:nvPicPr>
          <p:cNvPr id="15" name="Εικόνα 14" descr="Εικόνα που περιέχει κείμενο, στιγμιότυπο οθόνης, διάγραμμα, ορθογώνιο παραλληλόγραμμ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82F54F1D-879E-66F5-430B-F1B96CBCB9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0134" b="2014"/>
          <a:stretch>
            <a:fillRect/>
          </a:stretch>
        </p:blipFill>
        <p:spPr>
          <a:xfrm>
            <a:off x="538511" y="3086429"/>
            <a:ext cx="3668134" cy="308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35577"/>
      </p:ext>
    </p:extLst>
  </p:cSld>
  <p:clrMapOvr>
    <a:masterClrMapping/>
  </p:clrMapOvr>
</p:sld>
</file>

<file path=ppt/theme/theme1.xml><?xml version="1.0" encoding="utf-8"?>
<a:theme xmlns:a="http://schemas.openxmlformats.org/drawingml/2006/main" name="Ανασκόπηση">
  <a:themeElements>
    <a:clrScheme name="Προσαρμοσμένο 5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722860"/>
      </a:accent1>
      <a:accent2>
        <a:srgbClr val="B38CBA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Ανασκόπηση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Ανασκόπηση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63</TotalTime>
  <Words>275</Words>
  <Application>Microsoft Office PowerPoint</Application>
  <PresentationFormat>Ευρεία οθόνη</PresentationFormat>
  <Paragraphs>10</Paragraphs>
  <Slides>1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</vt:i4>
      </vt:variant>
    </vt:vector>
  </HeadingPairs>
  <TitlesOfParts>
    <vt:vector size="5" baseType="lpstr">
      <vt:lpstr>Aptos</vt:lpstr>
      <vt:lpstr>Calibri</vt:lpstr>
      <vt:lpstr>Calibri Light</vt:lpstr>
      <vt:lpstr>Ανασκόπηση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MAVRIDI</dc:creator>
  <cp:lastModifiedBy>MARIA MAVRIDI</cp:lastModifiedBy>
  <cp:revision>2</cp:revision>
  <dcterms:created xsi:type="dcterms:W3CDTF">2026-02-07T21:58:13Z</dcterms:created>
  <dcterms:modified xsi:type="dcterms:W3CDTF">2026-02-07T23:01:52Z</dcterms:modified>
</cp:coreProperties>
</file>